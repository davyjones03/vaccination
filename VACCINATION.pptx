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heme/themeOverride3.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66" r:id="rId5"/>
    <p:sldId id="308" r:id="rId6"/>
    <p:sldId id="309" r:id="rId7"/>
    <p:sldId id="310" r:id="rId8"/>
    <p:sldId id="311" r:id="rId9"/>
    <p:sldId id="312" r:id="rId10"/>
    <p:sldId id="313" r:id="rId11"/>
    <p:sldId id="314" r:id="rId12"/>
    <p:sldId id="315" r:id="rId13"/>
    <p:sldId id="31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9" autoAdjust="0"/>
  </p:normalViewPr>
  <p:slideViewPr>
    <p:cSldViewPr snapToGrid="0">
      <p:cViewPr varScale="1">
        <p:scale>
          <a:sx n="68" d="100"/>
          <a:sy n="68" d="100"/>
        </p:scale>
        <p:origin x="61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A66772-F185-4D58-B8BB-E9370D7A7A2B}"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40FC4FFE-8987-4A26-B7F4-8A516F18ADAE}">
      <dgm:prSet/>
      <dgm:spPr/>
      <dgm:t>
        <a:bodyPr/>
        <a:lstStyle/>
        <a:p>
          <a:pPr>
            <a:lnSpc>
              <a:spcPct val="100000"/>
            </a:lnSpc>
            <a:defRPr cap="all"/>
          </a:pPr>
          <a:r>
            <a:rPr lang="en-US" dirty="0"/>
            <a:t>The</a:t>
          </a:r>
          <a:r>
            <a:rPr lang="en-US" baseline="0" dirty="0"/>
            <a:t> data has many null values which may not be efficient to analyze the vaccine data so have to clear them </a:t>
          </a:r>
          <a:endParaRPr lang="en-US" dirty="0"/>
        </a:p>
      </dgm:t>
    </dgm:pt>
    <dgm:pt modelId="{CAD7EF86-FB23-41F6-BF42-040B36DEFDB1}" type="parTrans" cxnId="{C7AD8469-3C68-4AF9-AB82-79B0043AA120}">
      <dgm:prSet/>
      <dgm:spPr/>
      <dgm:t>
        <a:bodyPr/>
        <a:lstStyle/>
        <a:p>
          <a:endParaRPr lang="en-US"/>
        </a:p>
      </dgm:t>
    </dgm:pt>
    <dgm:pt modelId="{5B62599A-5C9B-48E7-896E-EA782AC60C8B}" type="sibTrans" cxnId="{C7AD8469-3C68-4AF9-AB82-79B0043AA120}">
      <dgm:prSet/>
      <dgm:spPr/>
      <dgm:t>
        <a:bodyPr/>
        <a:lstStyle/>
        <a:p>
          <a:endParaRPr lang="en-US"/>
        </a:p>
      </dgm:t>
    </dgm:pt>
    <dgm:pt modelId="{49225C73-1633-42F1-AB3B-7CB183E5F8B8}">
      <dgm:prSet/>
      <dgm:spPr/>
      <dgm:t>
        <a:bodyPr/>
        <a:lstStyle/>
        <a:p>
          <a:pPr>
            <a:lnSpc>
              <a:spcPct val="100000"/>
            </a:lnSpc>
            <a:defRPr cap="all"/>
          </a:pPr>
          <a:r>
            <a:rPr lang="en-US" dirty="0"/>
            <a:t>The</a:t>
          </a:r>
          <a:r>
            <a:rPr lang="en-US" baseline="0" dirty="0"/>
            <a:t> aim is to visualize the various data put together to analyze the vaccine and disease trend over various regions in the </a:t>
          </a:r>
          <a:r>
            <a:rPr lang="en-US" baseline="0" dirty="0" err="1"/>
            <a:t>wold</a:t>
          </a:r>
          <a:r>
            <a:rPr lang="en-US" baseline="0" dirty="0"/>
            <a:t> </a:t>
          </a:r>
          <a:endParaRPr lang="en-US" dirty="0"/>
        </a:p>
      </dgm:t>
    </dgm:pt>
    <dgm:pt modelId="{1A0E2090-1D4F-438A-8766-B6030CE01ADD}" type="parTrans" cxnId="{A9154303-8225-4248-91DC-1B0156A35F07}">
      <dgm:prSet/>
      <dgm:spPr/>
      <dgm:t>
        <a:bodyPr/>
        <a:lstStyle/>
        <a:p>
          <a:endParaRPr lang="en-US"/>
        </a:p>
      </dgm:t>
    </dgm:pt>
    <dgm:pt modelId="{9646853A-8964-4519-A5B1-0B7D18B2983D}" type="sibTrans" cxnId="{A9154303-8225-4248-91DC-1B0156A35F07}">
      <dgm:prSet/>
      <dgm:spPr/>
      <dgm:t>
        <a:bodyPr/>
        <a:lstStyle/>
        <a:p>
          <a:endParaRPr lang="en-US"/>
        </a:p>
      </dgm:t>
    </dgm:pt>
    <dgm:pt modelId="{1C383F32-22E8-4F62-A3E0-BDC3D5F48992}">
      <dgm:prSet/>
      <dgm:spPr/>
      <dgm:t>
        <a:bodyPr/>
        <a:lstStyle/>
        <a:p>
          <a:pPr>
            <a:lnSpc>
              <a:spcPct val="100000"/>
            </a:lnSpc>
            <a:defRPr cap="all"/>
          </a:pPr>
          <a:r>
            <a:rPr lang="en-US" dirty="0"/>
            <a:t>For</a:t>
          </a:r>
          <a:r>
            <a:rPr lang="en-US" baseline="0" dirty="0"/>
            <a:t> the effective time efficient the </a:t>
          </a:r>
          <a:r>
            <a:rPr lang="en-US" baseline="0" dirty="0" err="1"/>
            <a:t>na</a:t>
          </a:r>
          <a:r>
            <a:rPr lang="en-US" baseline="0" dirty="0"/>
            <a:t> values are filled using class object in python and a separate excel for larger </a:t>
          </a:r>
          <a:r>
            <a:rPr lang="en-US" baseline="0" dirty="0" err="1"/>
            <a:t>na</a:t>
          </a:r>
          <a:r>
            <a:rPr lang="en-US" baseline="0" dirty="0"/>
            <a:t> rows in a columns</a:t>
          </a:r>
          <a:endParaRPr lang="en-US" dirty="0"/>
        </a:p>
      </dgm:t>
    </dgm:pt>
    <dgm:pt modelId="{A7920A2F-3244-4159-AF04-6A1D38B7B317}" type="parTrans" cxnId="{C4CCE57E-E871-46D6-BAD5-880252C95D22}">
      <dgm:prSet/>
      <dgm:spPr/>
      <dgm:t>
        <a:bodyPr/>
        <a:lstStyle/>
        <a:p>
          <a:endParaRPr lang="en-US"/>
        </a:p>
      </dgm:t>
    </dgm:pt>
    <dgm:pt modelId="{8500F72A-2C6D-4FDF-9C1D-CA691380EB0B}" type="sibTrans" cxnId="{C4CCE57E-E871-46D6-BAD5-880252C95D22}">
      <dgm:prSet/>
      <dgm:spPr/>
      <dgm:t>
        <a:bodyPr/>
        <a:lstStyle/>
        <a:p>
          <a:endParaRPr lang="en-US"/>
        </a:p>
      </dgm:t>
    </dgm:pt>
    <dgm:pt modelId="{B6056BFB-47D7-4C5F-BA11-2CB63C56A52D}" type="pres">
      <dgm:prSet presAssocID="{01A66772-F185-4D58-B8BB-E9370D7A7A2B}" presName="root" presStyleCnt="0">
        <dgm:presLayoutVars>
          <dgm:dir/>
          <dgm:resizeHandles val="exact"/>
        </dgm:presLayoutVars>
      </dgm:prSet>
      <dgm:spPr/>
    </dgm:pt>
    <dgm:pt modelId="{311B26C8-22B1-4363-B621-DD56FB7418C8}" type="pres">
      <dgm:prSet presAssocID="{40FC4FFE-8987-4A26-B7F4-8A516F18ADAE}" presName="compNode" presStyleCnt="0"/>
      <dgm:spPr/>
    </dgm:pt>
    <dgm:pt modelId="{A201D7A7-914C-4D24-8B82-EE40155AB0BE}" type="pres">
      <dgm:prSet presAssocID="{40FC4FFE-8987-4A26-B7F4-8A516F18ADAE}" presName="iconBgRect" presStyleLbl="bgShp" presStyleIdx="0" presStyleCnt="3"/>
      <dgm:spPr>
        <a:prstGeom prst="ellipse">
          <a:avLst/>
        </a:prstGeom>
      </dgm:spPr>
    </dgm:pt>
    <dgm:pt modelId="{8FA2F131-CD01-4CBD-B7A5-1B9B5E7F0402}" type="pres">
      <dgm:prSet presAssocID="{40FC4FFE-8987-4A26-B7F4-8A516F18ADAE}"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Pie chart"/>
        </a:ext>
      </dgm:extLst>
    </dgm:pt>
    <dgm:pt modelId="{F755F00C-B2DB-4097-B4BC-8F1BACC938B7}" type="pres">
      <dgm:prSet presAssocID="{40FC4FFE-8987-4A26-B7F4-8A516F18ADAE}" presName="spaceRect" presStyleCnt="0"/>
      <dgm:spPr/>
    </dgm:pt>
    <dgm:pt modelId="{08F4E96D-0DB6-4476-8C51-7CC7EC2F227B}" type="pres">
      <dgm:prSet presAssocID="{40FC4FFE-8987-4A26-B7F4-8A516F18ADAE}" presName="textRect" presStyleLbl="revTx" presStyleIdx="0" presStyleCnt="3">
        <dgm:presLayoutVars>
          <dgm:chMax val="1"/>
          <dgm:chPref val="1"/>
        </dgm:presLayoutVars>
      </dgm:prSet>
      <dgm:spPr/>
    </dgm:pt>
    <dgm:pt modelId="{5AB3C10D-885E-4522-AB39-7ED4318D191A}" type="pres">
      <dgm:prSet presAssocID="{5B62599A-5C9B-48E7-896E-EA782AC60C8B}" presName="sibTrans" presStyleCnt="0"/>
      <dgm:spPr/>
    </dgm:pt>
    <dgm:pt modelId="{2F278BF9-E1B2-4A1C-B065-C19A7B904219}" type="pres">
      <dgm:prSet presAssocID="{49225C73-1633-42F1-AB3B-7CB183E5F8B8}" presName="compNode" presStyleCnt="0"/>
      <dgm:spPr/>
    </dgm:pt>
    <dgm:pt modelId="{543C18BC-1989-44B2-9862-C670C61D3452}" type="pres">
      <dgm:prSet presAssocID="{49225C73-1633-42F1-AB3B-7CB183E5F8B8}" presName="iconBgRect" presStyleLbl="bgShp" presStyleIdx="1" presStyleCnt="3"/>
      <dgm:spPr>
        <a:prstGeom prst="ellipse">
          <a:avLst/>
        </a:prstGeom>
      </dgm:spPr>
    </dgm:pt>
    <dgm:pt modelId="{E94F35BC-9C76-400A-BBCA-0032259E2E5A}" type="pres">
      <dgm:prSet presAssocID="{49225C73-1633-42F1-AB3B-7CB183E5F8B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Bullseye"/>
        </a:ext>
      </dgm:extLst>
    </dgm:pt>
    <dgm:pt modelId="{503A6D04-9ADD-43CC-9847-497CD48F2D11}" type="pres">
      <dgm:prSet presAssocID="{49225C73-1633-42F1-AB3B-7CB183E5F8B8}" presName="spaceRect" presStyleCnt="0"/>
      <dgm:spPr/>
    </dgm:pt>
    <dgm:pt modelId="{20363298-B2A6-463D-A7BE-F9F67404E389}" type="pres">
      <dgm:prSet presAssocID="{49225C73-1633-42F1-AB3B-7CB183E5F8B8}" presName="textRect" presStyleLbl="revTx" presStyleIdx="1" presStyleCnt="3">
        <dgm:presLayoutVars>
          <dgm:chMax val="1"/>
          <dgm:chPref val="1"/>
        </dgm:presLayoutVars>
      </dgm:prSet>
      <dgm:spPr/>
    </dgm:pt>
    <dgm:pt modelId="{A47947BB-708D-4F7E-B072-3C2E42B34B24}" type="pres">
      <dgm:prSet presAssocID="{9646853A-8964-4519-A5B1-0B7D18B2983D}" presName="sibTrans" presStyleCnt="0"/>
      <dgm:spPr/>
    </dgm:pt>
    <dgm:pt modelId="{BDCD0AC9-D564-4025-AD8A-36664A6CBE31}" type="pres">
      <dgm:prSet presAssocID="{1C383F32-22E8-4F62-A3E0-BDC3D5F48992}" presName="compNode" presStyleCnt="0"/>
      <dgm:spPr/>
    </dgm:pt>
    <dgm:pt modelId="{5BDDFF18-9AEC-4E5E-B9AA-33D86F01A63E}" type="pres">
      <dgm:prSet presAssocID="{1C383F32-22E8-4F62-A3E0-BDC3D5F48992}" presName="iconBgRect" presStyleLbl="bgShp" presStyleIdx="2" presStyleCnt="3"/>
      <dgm:spPr>
        <a:prstGeom prst="ellipse">
          <a:avLst/>
        </a:prstGeom>
      </dgm:spPr>
    </dgm:pt>
    <dgm:pt modelId="{F09AEBFF-D2D3-4FFF-AD65-C3CEAEEB10F2}" type="pres">
      <dgm:prSet presAssocID="{1C383F32-22E8-4F62-A3E0-BDC3D5F4899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Stopwatch"/>
        </a:ext>
      </dgm:extLst>
    </dgm:pt>
    <dgm:pt modelId="{F2EBFBCF-0520-415A-A886-3C4F90D208EF}" type="pres">
      <dgm:prSet presAssocID="{1C383F32-22E8-4F62-A3E0-BDC3D5F48992}" presName="spaceRect" presStyleCnt="0"/>
      <dgm:spPr/>
    </dgm:pt>
    <dgm:pt modelId="{AB9CAFAA-6939-48A6-A89B-19D1A94B9EA1}" type="pres">
      <dgm:prSet presAssocID="{1C383F32-22E8-4F62-A3E0-BDC3D5F48992}" presName="textRect" presStyleLbl="revTx" presStyleIdx="2" presStyleCnt="3">
        <dgm:presLayoutVars>
          <dgm:chMax val="1"/>
          <dgm:chPref val="1"/>
        </dgm:presLayoutVars>
      </dgm:prSet>
      <dgm:spPr/>
    </dgm:pt>
  </dgm:ptLst>
  <dgm:cxnLst>
    <dgm:cxn modelId="{A9154303-8225-4248-91DC-1B0156A35F07}" srcId="{01A66772-F185-4D58-B8BB-E9370D7A7A2B}" destId="{49225C73-1633-42F1-AB3B-7CB183E5F8B8}" srcOrd="1" destOrd="0" parTransId="{1A0E2090-1D4F-438A-8766-B6030CE01ADD}" sibTransId="{9646853A-8964-4519-A5B1-0B7D18B2983D}"/>
    <dgm:cxn modelId="{BA953D32-2DFF-47FE-AF26-C6B9E63D38DF}" type="presOf" srcId="{49225C73-1633-42F1-AB3B-7CB183E5F8B8}" destId="{20363298-B2A6-463D-A7BE-F9F67404E389}" srcOrd="0" destOrd="0" presId="urn:microsoft.com/office/officeart/2018/5/layout/IconLeafLabelList"/>
    <dgm:cxn modelId="{EC450542-0ED9-4BD6-9E85-5709B80794C5}" type="presOf" srcId="{01A66772-F185-4D58-B8BB-E9370D7A7A2B}" destId="{B6056BFB-47D7-4C5F-BA11-2CB63C56A52D}" srcOrd="0" destOrd="0" presId="urn:microsoft.com/office/officeart/2018/5/layout/IconLeafLabelList"/>
    <dgm:cxn modelId="{C7AD8469-3C68-4AF9-AB82-79B0043AA120}" srcId="{01A66772-F185-4D58-B8BB-E9370D7A7A2B}" destId="{40FC4FFE-8987-4A26-B7F4-8A516F18ADAE}" srcOrd="0" destOrd="0" parTransId="{CAD7EF86-FB23-41F6-BF42-040B36DEFDB1}" sibTransId="{5B62599A-5C9B-48E7-896E-EA782AC60C8B}"/>
    <dgm:cxn modelId="{C4CCE57E-E871-46D6-BAD5-880252C95D22}" srcId="{01A66772-F185-4D58-B8BB-E9370D7A7A2B}" destId="{1C383F32-22E8-4F62-A3E0-BDC3D5F48992}" srcOrd="2" destOrd="0" parTransId="{A7920A2F-3244-4159-AF04-6A1D38B7B317}" sibTransId="{8500F72A-2C6D-4FDF-9C1D-CA691380EB0B}"/>
    <dgm:cxn modelId="{D55FAE9C-CF3C-44F3-9D1E-DE6DF574E6D9}" type="presOf" srcId="{1C383F32-22E8-4F62-A3E0-BDC3D5F48992}" destId="{AB9CAFAA-6939-48A6-A89B-19D1A94B9EA1}" srcOrd="0" destOrd="0" presId="urn:microsoft.com/office/officeart/2018/5/layout/IconLeafLabelList"/>
    <dgm:cxn modelId="{A85983B4-FADF-419C-BC71-B5F0871C3055}" type="presOf" srcId="{40FC4FFE-8987-4A26-B7F4-8A516F18ADAE}" destId="{08F4E96D-0DB6-4476-8C51-7CC7EC2F227B}" srcOrd="0" destOrd="0" presId="urn:microsoft.com/office/officeart/2018/5/layout/IconLeafLabelList"/>
    <dgm:cxn modelId="{A3E74EE8-8900-4EBD-8983-3BF0AFD6DCC7}" type="presParOf" srcId="{B6056BFB-47D7-4C5F-BA11-2CB63C56A52D}" destId="{311B26C8-22B1-4363-B621-DD56FB7418C8}" srcOrd="0" destOrd="0" presId="urn:microsoft.com/office/officeart/2018/5/layout/IconLeafLabelList"/>
    <dgm:cxn modelId="{044EA9E0-B51B-492A-BE32-015CEAD0BAC9}" type="presParOf" srcId="{311B26C8-22B1-4363-B621-DD56FB7418C8}" destId="{A201D7A7-914C-4D24-8B82-EE40155AB0BE}" srcOrd="0" destOrd="0" presId="urn:microsoft.com/office/officeart/2018/5/layout/IconLeafLabelList"/>
    <dgm:cxn modelId="{08373EC6-14CB-429D-9495-F32683B931D7}" type="presParOf" srcId="{311B26C8-22B1-4363-B621-DD56FB7418C8}" destId="{8FA2F131-CD01-4CBD-B7A5-1B9B5E7F0402}" srcOrd="1" destOrd="0" presId="urn:microsoft.com/office/officeart/2018/5/layout/IconLeafLabelList"/>
    <dgm:cxn modelId="{9AB500F0-62A2-4E73-B4F4-5056804C8D6A}" type="presParOf" srcId="{311B26C8-22B1-4363-B621-DD56FB7418C8}" destId="{F755F00C-B2DB-4097-B4BC-8F1BACC938B7}" srcOrd="2" destOrd="0" presId="urn:microsoft.com/office/officeart/2018/5/layout/IconLeafLabelList"/>
    <dgm:cxn modelId="{676606A7-6564-4CEB-ACE0-4FF9A3A04E67}" type="presParOf" srcId="{311B26C8-22B1-4363-B621-DD56FB7418C8}" destId="{08F4E96D-0DB6-4476-8C51-7CC7EC2F227B}" srcOrd="3" destOrd="0" presId="urn:microsoft.com/office/officeart/2018/5/layout/IconLeafLabelList"/>
    <dgm:cxn modelId="{EAE0F94A-A454-4049-84F7-9EC90E847A03}" type="presParOf" srcId="{B6056BFB-47D7-4C5F-BA11-2CB63C56A52D}" destId="{5AB3C10D-885E-4522-AB39-7ED4318D191A}" srcOrd="1" destOrd="0" presId="urn:microsoft.com/office/officeart/2018/5/layout/IconLeafLabelList"/>
    <dgm:cxn modelId="{B0B5B21A-5ADD-4500-9A67-9B26AF543EBA}" type="presParOf" srcId="{B6056BFB-47D7-4C5F-BA11-2CB63C56A52D}" destId="{2F278BF9-E1B2-4A1C-B065-C19A7B904219}" srcOrd="2" destOrd="0" presId="urn:microsoft.com/office/officeart/2018/5/layout/IconLeafLabelList"/>
    <dgm:cxn modelId="{11FEAF2C-54F7-4E9C-A1D6-5FA0BF7F3665}" type="presParOf" srcId="{2F278BF9-E1B2-4A1C-B065-C19A7B904219}" destId="{543C18BC-1989-44B2-9862-C670C61D3452}" srcOrd="0" destOrd="0" presId="urn:microsoft.com/office/officeart/2018/5/layout/IconLeafLabelList"/>
    <dgm:cxn modelId="{92C17ECB-A80D-4A0E-95CF-40A53D32275F}" type="presParOf" srcId="{2F278BF9-E1B2-4A1C-B065-C19A7B904219}" destId="{E94F35BC-9C76-400A-BBCA-0032259E2E5A}" srcOrd="1" destOrd="0" presId="urn:microsoft.com/office/officeart/2018/5/layout/IconLeafLabelList"/>
    <dgm:cxn modelId="{54E5AE33-4BE6-44E7-871B-1103A0BA7A56}" type="presParOf" srcId="{2F278BF9-E1B2-4A1C-B065-C19A7B904219}" destId="{503A6D04-9ADD-43CC-9847-497CD48F2D11}" srcOrd="2" destOrd="0" presId="urn:microsoft.com/office/officeart/2018/5/layout/IconLeafLabelList"/>
    <dgm:cxn modelId="{3575FCA0-4FCE-460A-8D84-2C767D311A20}" type="presParOf" srcId="{2F278BF9-E1B2-4A1C-B065-C19A7B904219}" destId="{20363298-B2A6-463D-A7BE-F9F67404E389}" srcOrd="3" destOrd="0" presId="urn:microsoft.com/office/officeart/2018/5/layout/IconLeafLabelList"/>
    <dgm:cxn modelId="{4FD22448-C17B-4C43-BAB3-A0B7AA9BCE0D}" type="presParOf" srcId="{B6056BFB-47D7-4C5F-BA11-2CB63C56A52D}" destId="{A47947BB-708D-4F7E-B072-3C2E42B34B24}" srcOrd="3" destOrd="0" presId="urn:microsoft.com/office/officeart/2018/5/layout/IconLeafLabelList"/>
    <dgm:cxn modelId="{75E30F4F-0E76-457B-9D4F-CDE27C2F7F77}" type="presParOf" srcId="{B6056BFB-47D7-4C5F-BA11-2CB63C56A52D}" destId="{BDCD0AC9-D564-4025-AD8A-36664A6CBE31}" srcOrd="4" destOrd="0" presId="urn:microsoft.com/office/officeart/2018/5/layout/IconLeafLabelList"/>
    <dgm:cxn modelId="{C6A367E7-6A7C-42CB-94E4-8EA78AEF87BF}" type="presParOf" srcId="{BDCD0AC9-D564-4025-AD8A-36664A6CBE31}" destId="{5BDDFF18-9AEC-4E5E-B9AA-33D86F01A63E}" srcOrd="0" destOrd="0" presId="urn:microsoft.com/office/officeart/2018/5/layout/IconLeafLabelList"/>
    <dgm:cxn modelId="{B180CBEB-FA9F-4E52-8CA3-A65CB80BB91B}" type="presParOf" srcId="{BDCD0AC9-D564-4025-AD8A-36664A6CBE31}" destId="{F09AEBFF-D2D3-4FFF-AD65-C3CEAEEB10F2}" srcOrd="1" destOrd="0" presId="urn:microsoft.com/office/officeart/2018/5/layout/IconLeafLabelList"/>
    <dgm:cxn modelId="{170B020E-1E19-4EB4-A72C-4FCF01A7DD7E}" type="presParOf" srcId="{BDCD0AC9-D564-4025-AD8A-36664A6CBE31}" destId="{F2EBFBCF-0520-415A-A886-3C4F90D208EF}" srcOrd="2" destOrd="0" presId="urn:microsoft.com/office/officeart/2018/5/layout/IconLeafLabelList"/>
    <dgm:cxn modelId="{CADD8F7D-722C-42A0-AF21-39A3559F8D7B}" type="presParOf" srcId="{BDCD0AC9-D564-4025-AD8A-36664A6CBE31}" destId="{AB9CAFAA-6939-48A6-A89B-19D1A94B9EA1}"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01D7A7-914C-4D24-8B82-EE40155AB0BE}">
      <dsp:nvSpPr>
        <dsp:cNvPr id="0" name=""/>
        <dsp:cNvSpPr/>
      </dsp:nvSpPr>
      <dsp:spPr>
        <a:xfrm>
          <a:off x="616949" y="340539"/>
          <a:ext cx="1818562" cy="181856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FA2F131-CD01-4CBD-B7A5-1B9B5E7F0402}">
      <dsp:nvSpPr>
        <dsp:cNvPr id="0" name=""/>
        <dsp:cNvSpPr/>
      </dsp:nvSpPr>
      <dsp:spPr>
        <a:xfrm>
          <a:off x="1004512" y="728102"/>
          <a:ext cx="1043437" cy="1043437"/>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8F4E96D-0DB6-4476-8C51-7CC7EC2F227B}">
      <dsp:nvSpPr>
        <dsp:cNvPr id="0" name=""/>
        <dsp:cNvSpPr/>
      </dsp:nvSpPr>
      <dsp:spPr>
        <a:xfrm>
          <a:off x="35606" y="2725540"/>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kern="1200" dirty="0"/>
            <a:t>The</a:t>
          </a:r>
          <a:r>
            <a:rPr lang="en-US" sz="1200" kern="1200" baseline="0" dirty="0"/>
            <a:t> data has many null values which may not be efficient to analyze the vaccine data so have to clear them </a:t>
          </a:r>
          <a:endParaRPr lang="en-US" sz="1200" kern="1200" dirty="0"/>
        </a:p>
      </dsp:txBody>
      <dsp:txXfrm>
        <a:off x="35606" y="2725540"/>
        <a:ext cx="2981250" cy="720000"/>
      </dsp:txXfrm>
    </dsp:sp>
    <dsp:sp modelId="{543C18BC-1989-44B2-9862-C670C61D3452}">
      <dsp:nvSpPr>
        <dsp:cNvPr id="0" name=""/>
        <dsp:cNvSpPr/>
      </dsp:nvSpPr>
      <dsp:spPr>
        <a:xfrm>
          <a:off x="4119918" y="340539"/>
          <a:ext cx="1818562" cy="181856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4F35BC-9C76-400A-BBCA-0032259E2E5A}">
      <dsp:nvSpPr>
        <dsp:cNvPr id="0" name=""/>
        <dsp:cNvSpPr/>
      </dsp:nvSpPr>
      <dsp:spPr>
        <a:xfrm>
          <a:off x="4507481" y="728102"/>
          <a:ext cx="1043437" cy="10434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0363298-B2A6-463D-A7BE-F9F67404E389}">
      <dsp:nvSpPr>
        <dsp:cNvPr id="0" name=""/>
        <dsp:cNvSpPr/>
      </dsp:nvSpPr>
      <dsp:spPr>
        <a:xfrm>
          <a:off x="3538574" y="2725540"/>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kern="1200" dirty="0"/>
            <a:t>The</a:t>
          </a:r>
          <a:r>
            <a:rPr lang="en-US" sz="1200" kern="1200" baseline="0" dirty="0"/>
            <a:t> aim is to visualize the various data put together to analyze the vaccine and disease trend over various regions in the </a:t>
          </a:r>
          <a:r>
            <a:rPr lang="en-US" sz="1200" kern="1200" baseline="0" dirty="0" err="1"/>
            <a:t>wold</a:t>
          </a:r>
          <a:r>
            <a:rPr lang="en-US" sz="1200" kern="1200" baseline="0" dirty="0"/>
            <a:t> </a:t>
          </a:r>
          <a:endParaRPr lang="en-US" sz="1200" kern="1200" dirty="0"/>
        </a:p>
      </dsp:txBody>
      <dsp:txXfrm>
        <a:off x="3538574" y="2725540"/>
        <a:ext cx="2981250" cy="720000"/>
      </dsp:txXfrm>
    </dsp:sp>
    <dsp:sp modelId="{5BDDFF18-9AEC-4E5E-B9AA-33D86F01A63E}">
      <dsp:nvSpPr>
        <dsp:cNvPr id="0" name=""/>
        <dsp:cNvSpPr/>
      </dsp:nvSpPr>
      <dsp:spPr>
        <a:xfrm>
          <a:off x="7622887" y="340539"/>
          <a:ext cx="1818562" cy="181856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9AEBFF-D2D3-4FFF-AD65-C3CEAEEB10F2}">
      <dsp:nvSpPr>
        <dsp:cNvPr id="0" name=""/>
        <dsp:cNvSpPr/>
      </dsp:nvSpPr>
      <dsp:spPr>
        <a:xfrm>
          <a:off x="8010450" y="728102"/>
          <a:ext cx="1043437" cy="104343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B9CAFAA-6939-48A6-A89B-19D1A94B9EA1}">
      <dsp:nvSpPr>
        <dsp:cNvPr id="0" name=""/>
        <dsp:cNvSpPr/>
      </dsp:nvSpPr>
      <dsp:spPr>
        <a:xfrm>
          <a:off x="7041543" y="2725540"/>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kern="1200" dirty="0"/>
            <a:t>For</a:t>
          </a:r>
          <a:r>
            <a:rPr lang="en-US" sz="1200" kern="1200" baseline="0" dirty="0"/>
            <a:t> the effective time efficient the </a:t>
          </a:r>
          <a:r>
            <a:rPr lang="en-US" sz="1200" kern="1200" baseline="0" dirty="0" err="1"/>
            <a:t>na</a:t>
          </a:r>
          <a:r>
            <a:rPr lang="en-US" sz="1200" kern="1200" baseline="0" dirty="0"/>
            <a:t> values are filled using class object in python and a separate excel for larger </a:t>
          </a:r>
          <a:r>
            <a:rPr lang="en-US" sz="1200" kern="1200" baseline="0" dirty="0" err="1"/>
            <a:t>na</a:t>
          </a:r>
          <a:r>
            <a:rPr lang="en-US" sz="1200" kern="1200" baseline="0" dirty="0"/>
            <a:t> rows in a columns</a:t>
          </a:r>
          <a:endParaRPr lang="en-US" sz="1200" kern="1200" dirty="0"/>
        </a:p>
      </dsp:txBody>
      <dsp:txXfrm>
        <a:off x="7041543" y="2725540"/>
        <a:ext cx="298125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5/3/2025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87293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5/3/2025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38980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5/3/2025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2331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5/3/2025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57611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5/3/2025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02808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5/3/2025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01771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5/3/2025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0701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5/3/2025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01302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5/3/2025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58826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smtClean="0"/>
              <a:t>5/3/2025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9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60147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6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F452A527-3631-41ED-858D-3777A7D14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peak Pro" panose="020F0502020204030204"/>
              <a:ea typeface="+mn-ea"/>
              <a:cs typeface="+mn-cs"/>
            </a:endParaRP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6095999" y="1725108"/>
            <a:ext cx="6095999" cy="2408780"/>
          </a:xfrm>
        </p:spPr>
        <p:txBody>
          <a:bodyPr>
            <a:normAutofit fontScale="90000"/>
          </a:bodyPr>
          <a:lstStyle/>
          <a:p>
            <a:r>
              <a:rPr lang="en-US" dirty="0"/>
              <a:t>VACCINATION</a:t>
            </a:r>
            <a:br>
              <a:rPr lang="en-US" dirty="0"/>
            </a:br>
            <a:r>
              <a:rPr lang="en-US" dirty="0"/>
              <a:t>APPROACH</a:t>
            </a: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6729999" y="4455621"/>
            <a:ext cx="4829101" cy="1238616"/>
          </a:xfrm>
        </p:spPr>
        <p:txBody>
          <a:bodyPr>
            <a:normAutofit/>
          </a:bodyPr>
          <a:lstStyle/>
          <a:p>
            <a:r>
              <a:rPr lang="en-US" dirty="0"/>
              <a:t>BY ABINASH </a:t>
            </a:r>
          </a:p>
        </p:txBody>
      </p:sp>
      <p:pic>
        <p:nvPicPr>
          <p:cNvPr id="6" name="Picture 5">
            <a:extLst>
              <a:ext uri="{FF2B5EF4-FFF2-40B4-BE49-F238E27FC236}">
                <a16:creationId xmlns:a16="http://schemas.microsoft.com/office/drawing/2014/main" id="{8940CBE3-3F91-419A-A649-32AB388ECA8B}"/>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 y="10"/>
            <a:ext cx="6096000" cy="6857990"/>
          </a:xfrm>
          <a:prstGeom prst="rect">
            <a:avLst/>
          </a:prstGeom>
        </p:spPr>
      </p:pic>
      <p:cxnSp>
        <p:nvCxnSpPr>
          <p:cNvPr id="26" name="Straight Connector 25">
            <a:extLst>
              <a:ext uri="{FF2B5EF4-FFF2-40B4-BE49-F238E27FC236}">
                <a16:creationId xmlns:a16="http://schemas.microsoft.com/office/drawing/2014/main" id="{D28A9C89-B313-458F-9C85-515930A51A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805053" y="4294754"/>
            <a:ext cx="43891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5915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47F5C-50EC-416A-AE8C-6F6BB4225673}"/>
              </a:ext>
            </a:extLst>
          </p:cNvPr>
          <p:cNvSpPr>
            <a:spLocks noGrp="1"/>
          </p:cNvSpPr>
          <p:nvPr>
            <p:ph type="title"/>
          </p:nvPr>
        </p:nvSpPr>
        <p:spPr>
          <a:xfrm>
            <a:off x="1097280" y="286603"/>
            <a:ext cx="10058400" cy="1450757"/>
          </a:xfrm>
        </p:spPr>
        <p:txBody>
          <a:bodyPr>
            <a:normAutofit/>
          </a:bodyPr>
          <a:lstStyle/>
          <a:p>
            <a:r>
              <a:rPr lang="en-US" dirty="0"/>
              <a:t>THE BASIC APPROACH </a:t>
            </a:r>
          </a:p>
        </p:txBody>
      </p:sp>
      <p:graphicFrame>
        <p:nvGraphicFramePr>
          <p:cNvPr id="4" name="Content Placeholder 2" descr="SmartArt graphic">
            <a:extLst>
              <a:ext uri="{FF2B5EF4-FFF2-40B4-BE49-F238E27FC236}">
                <a16:creationId xmlns:a16="http://schemas.microsoft.com/office/drawing/2014/main" id="{59F5A1AC-D08D-42AE-B94A-1CAFB517D846}"/>
              </a:ext>
            </a:extLst>
          </p:cNvPr>
          <p:cNvGraphicFramePr>
            <a:graphicFrameLocks noGrp="1"/>
          </p:cNvGraphicFramePr>
          <p:nvPr>
            <p:ph idx="1"/>
            <p:extLst>
              <p:ext uri="{D42A27DB-BD31-4B8C-83A1-F6EECF244321}">
                <p14:modId xmlns:p14="http://schemas.microsoft.com/office/powerpoint/2010/main" val="1079431256"/>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55225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A0F70-808A-4E4E-99E7-53FA93202E54}"/>
              </a:ext>
            </a:extLst>
          </p:cNvPr>
          <p:cNvSpPr>
            <a:spLocks noGrp="1"/>
          </p:cNvSpPr>
          <p:nvPr>
            <p:ph type="title"/>
          </p:nvPr>
        </p:nvSpPr>
        <p:spPr/>
        <p:txBody>
          <a:bodyPr/>
          <a:lstStyle/>
          <a:p>
            <a:r>
              <a:rPr lang="en-US" dirty="0"/>
              <a:t>DATA CLEANING </a:t>
            </a:r>
          </a:p>
        </p:txBody>
      </p:sp>
      <p:sp>
        <p:nvSpPr>
          <p:cNvPr id="3" name="Content Placeholder 2">
            <a:extLst>
              <a:ext uri="{FF2B5EF4-FFF2-40B4-BE49-F238E27FC236}">
                <a16:creationId xmlns:a16="http://schemas.microsoft.com/office/drawing/2014/main" id="{FE11469B-53CB-4171-8F6A-480DF9A0029C}"/>
              </a:ext>
            </a:extLst>
          </p:cNvPr>
          <p:cNvSpPr>
            <a:spLocks noGrp="1"/>
          </p:cNvSpPr>
          <p:nvPr>
            <p:ph idx="1"/>
          </p:nvPr>
        </p:nvSpPr>
        <p:spPr/>
        <p:txBody>
          <a:bodyPr>
            <a:normAutofit lnSpcReduction="10000"/>
          </a:bodyPr>
          <a:lstStyle/>
          <a:p>
            <a:r>
              <a:rPr lang="en-US" dirty="0"/>
              <a:t>COVERAGE DATA:</a:t>
            </a:r>
          </a:p>
          <a:p>
            <a:pPr marL="457200" indent="-457200">
              <a:buFont typeface="+mj-lt"/>
              <a:buAutoNum type="arabicPeriod"/>
            </a:pPr>
            <a:r>
              <a:rPr lang="en-US" dirty="0"/>
              <a:t>First null values in the target number and doses are filled using </a:t>
            </a:r>
            <a:r>
              <a:rPr lang="en-US" dirty="0" err="1"/>
              <a:t>Ffill</a:t>
            </a:r>
            <a:r>
              <a:rPr lang="en-US" dirty="0"/>
              <a:t> only where the coverage values are not </a:t>
            </a:r>
            <a:r>
              <a:rPr lang="en-US" dirty="0" err="1"/>
              <a:t>na</a:t>
            </a:r>
            <a:r>
              <a:rPr lang="en-US" dirty="0"/>
              <a:t> as the coverage is the same value so the other column value would be</a:t>
            </a:r>
          </a:p>
          <a:p>
            <a:pPr marL="457200" indent="-457200">
              <a:buFont typeface="+mj-lt"/>
              <a:buAutoNum type="arabicPeriod"/>
            </a:pPr>
            <a:r>
              <a:rPr lang="en-US" dirty="0"/>
              <a:t>The coverage </a:t>
            </a:r>
            <a:r>
              <a:rPr lang="en-US" dirty="0" err="1"/>
              <a:t>na</a:t>
            </a:r>
            <a:r>
              <a:rPr lang="en-US" dirty="0"/>
              <a:t> is filled by doses/target number*100 only where the target and doses is not NA in the column </a:t>
            </a:r>
          </a:p>
          <a:p>
            <a:pPr marL="457200" indent="-457200">
              <a:buFont typeface="+mj-lt"/>
              <a:buAutoNum type="arabicPeriod"/>
            </a:pPr>
            <a:r>
              <a:rPr lang="en-US" dirty="0"/>
              <a:t>Now only the null values where no corresponding values will be left over, its filled with 0 values as its not predictable either found in internet </a:t>
            </a:r>
          </a:p>
          <a:p>
            <a:pPr marL="457200" indent="-457200">
              <a:buFont typeface="+mj-lt"/>
              <a:buAutoNum type="arabicPeriod"/>
            </a:pPr>
            <a:r>
              <a:rPr lang="en-US" dirty="0"/>
              <a:t>Additionally step 2 can create inf values as it may occur zero/value so inf is replaced with 0 for SQL database entry and data neutralization </a:t>
            </a:r>
          </a:p>
          <a:p>
            <a:pPr marL="0" indent="0">
              <a:buNone/>
            </a:pPr>
            <a:endParaRPr lang="en-US" dirty="0"/>
          </a:p>
        </p:txBody>
      </p:sp>
    </p:spTree>
    <p:extLst>
      <p:ext uri="{BB962C8B-B14F-4D97-AF65-F5344CB8AC3E}">
        <p14:creationId xmlns:p14="http://schemas.microsoft.com/office/powerpoint/2010/main" val="3073771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88E14-F201-4495-A185-7DFB93F90AB3}"/>
              </a:ext>
            </a:extLst>
          </p:cNvPr>
          <p:cNvSpPr>
            <a:spLocks noGrp="1"/>
          </p:cNvSpPr>
          <p:nvPr>
            <p:ph type="title"/>
          </p:nvPr>
        </p:nvSpPr>
        <p:spPr/>
        <p:txBody>
          <a:bodyPr/>
          <a:lstStyle/>
          <a:p>
            <a:r>
              <a:rPr lang="en-US" dirty="0"/>
              <a:t>DATA CLEANING </a:t>
            </a:r>
          </a:p>
        </p:txBody>
      </p:sp>
      <p:sp>
        <p:nvSpPr>
          <p:cNvPr id="3" name="Content Placeholder 2">
            <a:extLst>
              <a:ext uri="{FF2B5EF4-FFF2-40B4-BE49-F238E27FC236}">
                <a16:creationId xmlns:a16="http://schemas.microsoft.com/office/drawing/2014/main" id="{49A650B1-B1B0-49AC-9291-141E5DB50777}"/>
              </a:ext>
            </a:extLst>
          </p:cNvPr>
          <p:cNvSpPr>
            <a:spLocks noGrp="1"/>
          </p:cNvSpPr>
          <p:nvPr>
            <p:ph idx="1"/>
          </p:nvPr>
        </p:nvSpPr>
        <p:spPr/>
        <p:txBody>
          <a:bodyPr>
            <a:normAutofit/>
          </a:bodyPr>
          <a:lstStyle/>
          <a:p>
            <a:pPr marL="0" indent="0">
              <a:buNone/>
            </a:pPr>
            <a:r>
              <a:rPr lang="en-US" dirty="0"/>
              <a:t>INCIDENCE RATE:</a:t>
            </a:r>
          </a:p>
          <a:p>
            <a:pPr marL="457200" indent="-457200">
              <a:buFont typeface="+mj-lt"/>
              <a:buAutoNum type="arabicPeriod"/>
            </a:pPr>
            <a:r>
              <a:rPr lang="en-US" dirty="0"/>
              <a:t>The Diseases are filtered by all countries and years and filled the Na values if any corresponding case reported noted in reported cases excel and rest of the values are filled by </a:t>
            </a:r>
            <a:r>
              <a:rPr lang="en-US" dirty="0" err="1"/>
              <a:t>ffill</a:t>
            </a:r>
            <a:r>
              <a:rPr lang="en-US" dirty="0"/>
              <a:t>/</a:t>
            </a:r>
            <a:r>
              <a:rPr lang="en-US" dirty="0" err="1"/>
              <a:t>bfill</a:t>
            </a:r>
            <a:r>
              <a:rPr lang="en-US" dirty="0"/>
              <a:t>/0 as per the needs </a:t>
            </a:r>
          </a:p>
          <a:p>
            <a:pPr marL="457200" indent="-457200">
              <a:buFont typeface="+mj-lt"/>
              <a:buAutoNum type="arabicPeriod"/>
            </a:pPr>
            <a:r>
              <a:rPr lang="en-US" dirty="0"/>
              <a:t>For POLIO since the Na values mostly has a corresponding reported case value a separate excel file is created and incidence is calculated and fed into the data my merging and null values are filled  </a:t>
            </a:r>
          </a:p>
          <a:p>
            <a:pPr marL="457200" indent="-457200">
              <a:buFont typeface="+mj-lt"/>
              <a:buAutoNum type="arabicPeriod"/>
            </a:pPr>
            <a:r>
              <a:rPr lang="en-US" dirty="0"/>
              <a:t>Remaining null values are filled with 0’s</a:t>
            </a:r>
          </a:p>
        </p:txBody>
      </p:sp>
    </p:spTree>
    <p:extLst>
      <p:ext uri="{BB962C8B-B14F-4D97-AF65-F5344CB8AC3E}">
        <p14:creationId xmlns:p14="http://schemas.microsoft.com/office/powerpoint/2010/main" val="2025668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A5683-7F58-4A77-BF79-31005C285A16}"/>
              </a:ext>
            </a:extLst>
          </p:cNvPr>
          <p:cNvSpPr>
            <a:spLocks noGrp="1"/>
          </p:cNvSpPr>
          <p:nvPr>
            <p:ph type="title"/>
          </p:nvPr>
        </p:nvSpPr>
        <p:spPr/>
        <p:txBody>
          <a:bodyPr/>
          <a:lstStyle/>
          <a:p>
            <a:r>
              <a:rPr lang="en-US" dirty="0"/>
              <a:t>DATA CLEANING </a:t>
            </a:r>
          </a:p>
        </p:txBody>
      </p:sp>
      <p:sp>
        <p:nvSpPr>
          <p:cNvPr id="3" name="Content Placeholder 2">
            <a:extLst>
              <a:ext uri="{FF2B5EF4-FFF2-40B4-BE49-F238E27FC236}">
                <a16:creationId xmlns:a16="http://schemas.microsoft.com/office/drawing/2014/main" id="{866D765D-CAC8-493A-A822-0FB1329BB180}"/>
              </a:ext>
            </a:extLst>
          </p:cNvPr>
          <p:cNvSpPr>
            <a:spLocks noGrp="1"/>
          </p:cNvSpPr>
          <p:nvPr>
            <p:ph idx="1"/>
          </p:nvPr>
        </p:nvSpPr>
        <p:spPr/>
        <p:txBody>
          <a:bodyPr/>
          <a:lstStyle/>
          <a:p>
            <a:r>
              <a:rPr lang="en-US" dirty="0"/>
              <a:t>VACCINE SCHEDULE:</a:t>
            </a:r>
          </a:p>
          <a:p>
            <a:pPr marL="457200" indent="-457200">
              <a:buFont typeface="+mj-lt"/>
              <a:buAutoNum type="arabicPeriod"/>
            </a:pPr>
            <a:r>
              <a:rPr lang="en-US" dirty="0"/>
              <a:t>The target population column has the most missing values </a:t>
            </a:r>
          </a:p>
          <a:p>
            <a:pPr marL="457200" indent="-457200">
              <a:buFont typeface="+mj-lt"/>
              <a:buAutoNum type="arabicPeriod"/>
            </a:pPr>
            <a:r>
              <a:rPr lang="en-US" dirty="0"/>
              <a:t>By analyzing the data it was clear that there 13 groups which categorically hold all the population from new born to 80+ </a:t>
            </a:r>
          </a:p>
          <a:p>
            <a:pPr marL="457200" indent="-457200">
              <a:buFont typeface="+mj-lt"/>
              <a:buAutoNum type="arabicPeriod"/>
            </a:pPr>
            <a:r>
              <a:rPr lang="en-US" dirty="0"/>
              <a:t>Filtered all the age groups manually and coded the target pop group manually </a:t>
            </a:r>
          </a:p>
          <a:p>
            <a:pPr marL="457200" indent="-457200">
              <a:buFont typeface="+mj-lt"/>
              <a:buAutoNum type="arabicPeriod"/>
            </a:pPr>
            <a:r>
              <a:rPr lang="en-US" dirty="0"/>
              <a:t>Rest of the Na’s are filled by 0’s </a:t>
            </a:r>
          </a:p>
          <a:p>
            <a:pPr marL="457200" indent="-457200">
              <a:buFont typeface="+mj-lt"/>
              <a:buAutoNum type="arabicPeriod"/>
            </a:pPr>
            <a:r>
              <a:rPr lang="en-US" dirty="0"/>
              <a:t>Age group Na’s are dropped as the age cannot be determined by the available data it’s the impact is also less than .5% </a:t>
            </a:r>
          </a:p>
          <a:p>
            <a:pPr marL="0" indent="0">
              <a:buNone/>
            </a:pPr>
            <a:endParaRPr lang="en-US" dirty="0"/>
          </a:p>
        </p:txBody>
      </p:sp>
    </p:spTree>
    <p:extLst>
      <p:ext uri="{BB962C8B-B14F-4D97-AF65-F5344CB8AC3E}">
        <p14:creationId xmlns:p14="http://schemas.microsoft.com/office/powerpoint/2010/main" val="12747480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21B06-2235-4A9C-A7E9-E0CF0113C979}"/>
              </a:ext>
            </a:extLst>
          </p:cNvPr>
          <p:cNvSpPr>
            <a:spLocks noGrp="1"/>
          </p:cNvSpPr>
          <p:nvPr>
            <p:ph type="title"/>
          </p:nvPr>
        </p:nvSpPr>
        <p:spPr/>
        <p:txBody>
          <a:bodyPr/>
          <a:lstStyle/>
          <a:p>
            <a:r>
              <a:rPr lang="en-US" dirty="0"/>
              <a:t>DATA CLEANING</a:t>
            </a:r>
          </a:p>
        </p:txBody>
      </p:sp>
      <p:sp>
        <p:nvSpPr>
          <p:cNvPr id="3" name="Content Placeholder 2">
            <a:extLst>
              <a:ext uri="{FF2B5EF4-FFF2-40B4-BE49-F238E27FC236}">
                <a16:creationId xmlns:a16="http://schemas.microsoft.com/office/drawing/2014/main" id="{8FA596E3-4C28-4C1D-AF3A-81D76F3CB2E4}"/>
              </a:ext>
            </a:extLst>
          </p:cNvPr>
          <p:cNvSpPr>
            <a:spLocks noGrp="1"/>
          </p:cNvSpPr>
          <p:nvPr>
            <p:ph idx="1"/>
          </p:nvPr>
        </p:nvSpPr>
        <p:spPr/>
        <p:txBody>
          <a:bodyPr/>
          <a:lstStyle/>
          <a:p>
            <a:pPr marL="0" indent="0">
              <a:buNone/>
            </a:pPr>
            <a:r>
              <a:rPr lang="en-US" dirty="0"/>
              <a:t>The rest of the data provided has no much complicated Na’s and its only a minimalistic % to the entire data including the reported case, vaccine intro , so I was simply cleared off from the </a:t>
            </a:r>
            <a:r>
              <a:rPr lang="en-US" dirty="0" err="1"/>
              <a:t>dataframe</a:t>
            </a:r>
            <a:endParaRPr lang="en-US" dirty="0"/>
          </a:p>
        </p:txBody>
      </p:sp>
    </p:spTree>
    <p:extLst>
      <p:ext uri="{BB962C8B-B14F-4D97-AF65-F5344CB8AC3E}">
        <p14:creationId xmlns:p14="http://schemas.microsoft.com/office/powerpoint/2010/main" val="3313063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01F6C-3E58-49DC-84F8-022B66BBB1B2}"/>
              </a:ext>
            </a:extLst>
          </p:cNvPr>
          <p:cNvSpPr>
            <a:spLocks noGrp="1"/>
          </p:cNvSpPr>
          <p:nvPr>
            <p:ph type="title"/>
          </p:nvPr>
        </p:nvSpPr>
        <p:spPr/>
        <p:txBody>
          <a:bodyPr/>
          <a:lstStyle/>
          <a:p>
            <a:r>
              <a:rPr lang="en-US" dirty="0"/>
              <a:t>SQL </a:t>
            </a:r>
          </a:p>
        </p:txBody>
      </p:sp>
      <p:sp>
        <p:nvSpPr>
          <p:cNvPr id="3" name="Content Placeholder 2">
            <a:extLst>
              <a:ext uri="{FF2B5EF4-FFF2-40B4-BE49-F238E27FC236}">
                <a16:creationId xmlns:a16="http://schemas.microsoft.com/office/drawing/2014/main" id="{3098C37C-53D8-4A7E-975C-1523DBADA7AA}"/>
              </a:ext>
            </a:extLst>
          </p:cNvPr>
          <p:cNvSpPr>
            <a:spLocks noGrp="1"/>
          </p:cNvSpPr>
          <p:nvPr>
            <p:ph idx="1"/>
          </p:nvPr>
        </p:nvSpPr>
        <p:spPr/>
        <p:txBody>
          <a:bodyPr/>
          <a:lstStyle/>
          <a:p>
            <a:pPr marL="457200" indent="-457200">
              <a:buFont typeface="+mj-lt"/>
              <a:buAutoNum type="arabicPeriod"/>
            </a:pPr>
            <a:r>
              <a:rPr lang="en-US" dirty="0"/>
              <a:t>SQL query is created for every data and its loaded into the database </a:t>
            </a:r>
          </a:p>
          <a:p>
            <a:pPr marL="457200" indent="-457200">
              <a:buFont typeface="+mj-lt"/>
              <a:buAutoNum type="arabicPeriod"/>
            </a:pPr>
            <a:r>
              <a:rPr lang="en-US" dirty="0"/>
              <a:t>Additionally to the provided data, its been noted from the vaccine problem statement and viz requirements few more addition separate tables are needed for interlinking of the given tables, hence a separate query is coded to get them from the existing table and load them as a new table with the required columns </a:t>
            </a:r>
          </a:p>
          <a:p>
            <a:pPr marL="457200" indent="-457200">
              <a:buFont typeface="+mj-lt"/>
              <a:buAutoNum type="arabicPeriod"/>
            </a:pPr>
            <a:r>
              <a:rPr lang="en-US" dirty="0"/>
              <a:t>The data is synced and checked </a:t>
            </a:r>
          </a:p>
        </p:txBody>
      </p:sp>
    </p:spTree>
    <p:extLst>
      <p:ext uri="{BB962C8B-B14F-4D97-AF65-F5344CB8AC3E}">
        <p14:creationId xmlns:p14="http://schemas.microsoft.com/office/powerpoint/2010/main" val="26067633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BAE27-2DF1-40BF-9A44-F80EF6B85CD6}"/>
              </a:ext>
            </a:extLst>
          </p:cNvPr>
          <p:cNvSpPr>
            <a:spLocks noGrp="1"/>
          </p:cNvSpPr>
          <p:nvPr>
            <p:ph type="title"/>
          </p:nvPr>
        </p:nvSpPr>
        <p:spPr/>
        <p:txBody>
          <a:bodyPr/>
          <a:lstStyle/>
          <a:p>
            <a:r>
              <a:rPr lang="en-US" dirty="0"/>
              <a:t>EDA</a:t>
            </a:r>
          </a:p>
        </p:txBody>
      </p:sp>
      <p:sp>
        <p:nvSpPr>
          <p:cNvPr id="3" name="Content Placeholder 2">
            <a:extLst>
              <a:ext uri="{FF2B5EF4-FFF2-40B4-BE49-F238E27FC236}">
                <a16:creationId xmlns:a16="http://schemas.microsoft.com/office/drawing/2014/main" id="{FD6C9CAE-4396-44EB-9615-AF9F72A78273}"/>
              </a:ext>
            </a:extLst>
          </p:cNvPr>
          <p:cNvSpPr>
            <a:spLocks noGrp="1"/>
          </p:cNvSpPr>
          <p:nvPr>
            <p:ph idx="1"/>
          </p:nvPr>
        </p:nvSpPr>
        <p:spPr/>
        <p:txBody>
          <a:bodyPr/>
          <a:lstStyle/>
          <a:p>
            <a:pPr marL="457200" indent="-457200">
              <a:buFont typeface="+mj-lt"/>
              <a:buAutoNum type="arabicPeriod"/>
            </a:pPr>
            <a:r>
              <a:rPr lang="en-US" dirty="0"/>
              <a:t>EDA has been done at the end of every data cleaning so that its clear to read all the work on a particular data at once </a:t>
            </a:r>
          </a:p>
          <a:p>
            <a:pPr marL="457200" indent="-457200">
              <a:buFont typeface="+mj-lt"/>
              <a:buAutoNum type="arabicPeriod"/>
            </a:pPr>
            <a:r>
              <a:rPr lang="en-US" dirty="0"/>
              <a:t>Hence the null values are cleared apart from categorical data other columns are utilized for EDA </a:t>
            </a:r>
          </a:p>
          <a:p>
            <a:pPr marL="457200" indent="-457200">
              <a:buFont typeface="+mj-lt"/>
              <a:buAutoNum type="arabicPeriod"/>
            </a:pPr>
            <a:r>
              <a:rPr lang="en-US" dirty="0"/>
              <a:t>Mostly line and bar plot in </a:t>
            </a:r>
            <a:r>
              <a:rPr lang="en-US" dirty="0" err="1"/>
              <a:t>sns</a:t>
            </a:r>
            <a:r>
              <a:rPr lang="en-US" dirty="0"/>
              <a:t> used as they fir the requirements as other plots gives a scrambled viz(used </a:t>
            </a:r>
            <a:r>
              <a:rPr lang="en-US" dirty="0" err="1"/>
              <a:t>sns</a:t>
            </a:r>
            <a:r>
              <a:rPr lang="en-US" dirty="0"/>
              <a:t> as it was effective that matplotlib)</a:t>
            </a:r>
          </a:p>
        </p:txBody>
      </p:sp>
    </p:spTree>
    <p:extLst>
      <p:ext uri="{BB962C8B-B14F-4D97-AF65-F5344CB8AC3E}">
        <p14:creationId xmlns:p14="http://schemas.microsoft.com/office/powerpoint/2010/main" val="7599324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4523C-D262-41BC-84AD-146B23B8F24C}"/>
              </a:ext>
            </a:extLst>
          </p:cNvPr>
          <p:cNvSpPr>
            <a:spLocks noGrp="1"/>
          </p:cNvSpPr>
          <p:nvPr>
            <p:ph type="title"/>
          </p:nvPr>
        </p:nvSpPr>
        <p:spPr/>
        <p:txBody>
          <a:bodyPr/>
          <a:lstStyle/>
          <a:p>
            <a:r>
              <a:rPr lang="en-US" dirty="0"/>
              <a:t>POWER BI</a:t>
            </a:r>
          </a:p>
        </p:txBody>
      </p:sp>
      <p:sp>
        <p:nvSpPr>
          <p:cNvPr id="3" name="Content Placeholder 2">
            <a:extLst>
              <a:ext uri="{FF2B5EF4-FFF2-40B4-BE49-F238E27FC236}">
                <a16:creationId xmlns:a16="http://schemas.microsoft.com/office/drawing/2014/main" id="{33D1854D-45AC-4EED-A452-F9A75388CC7D}"/>
              </a:ext>
            </a:extLst>
          </p:cNvPr>
          <p:cNvSpPr>
            <a:spLocks noGrp="1"/>
          </p:cNvSpPr>
          <p:nvPr>
            <p:ph idx="1"/>
          </p:nvPr>
        </p:nvSpPr>
        <p:spPr/>
        <p:txBody>
          <a:bodyPr/>
          <a:lstStyle/>
          <a:p>
            <a:pPr marL="457200" indent="-457200">
              <a:buFont typeface="+mj-lt"/>
              <a:buAutoNum type="arabicPeriod"/>
            </a:pPr>
            <a:r>
              <a:rPr lang="en-US" dirty="0" err="1"/>
              <a:t>Mysql</a:t>
            </a:r>
            <a:r>
              <a:rPr lang="en-US" dirty="0"/>
              <a:t> to </a:t>
            </a:r>
            <a:r>
              <a:rPr lang="en-US" dirty="0" err="1"/>
              <a:t>powerBi</a:t>
            </a:r>
            <a:r>
              <a:rPr lang="en-US" dirty="0"/>
              <a:t> connection is established </a:t>
            </a:r>
          </a:p>
          <a:p>
            <a:pPr marL="457200" indent="-457200">
              <a:buFont typeface="+mj-lt"/>
              <a:buAutoNum type="arabicPeriod"/>
            </a:pPr>
            <a:r>
              <a:rPr lang="en-US" dirty="0"/>
              <a:t>The data is loaded (not Transformed)—[ELT]</a:t>
            </a:r>
          </a:p>
          <a:p>
            <a:pPr marL="457200" indent="-457200">
              <a:buFont typeface="+mj-lt"/>
              <a:buAutoNum type="arabicPeriod"/>
            </a:pPr>
            <a:r>
              <a:rPr lang="en-US" dirty="0"/>
              <a:t>As per the ask in the project the viz has been created </a:t>
            </a:r>
          </a:p>
        </p:txBody>
      </p:sp>
    </p:spTree>
    <p:extLst>
      <p:ext uri="{BB962C8B-B14F-4D97-AF65-F5344CB8AC3E}">
        <p14:creationId xmlns:p14="http://schemas.microsoft.com/office/powerpoint/2010/main" val="23678357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F452A527-3631-41ED-858D-3777A7D14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peak Pro" panose="020F0502020204030204"/>
              <a:ea typeface="+mn-ea"/>
              <a:cs typeface="+mn-cs"/>
            </a:endParaRP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6095999" y="1725108"/>
            <a:ext cx="6095999" cy="2408780"/>
          </a:xfrm>
        </p:spPr>
        <p:txBody>
          <a:bodyPr>
            <a:normAutofit/>
          </a:bodyPr>
          <a:lstStyle/>
          <a:p>
            <a:r>
              <a:rPr lang="en-US" dirty="0"/>
              <a:t>THANK YOU</a:t>
            </a: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6729999" y="4455621"/>
            <a:ext cx="4829101" cy="1238616"/>
          </a:xfrm>
        </p:spPr>
        <p:txBody>
          <a:bodyPr>
            <a:normAutofit/>
          </a:bodyPr>
          <a:lstStyle/>
          <a:p>
            <a:r>
              <a:rPr lang="en-US" dirty="0"/>
              <a:t>BY ABINASH </a:t>
            </a:r>
          </a:p>
        </p:txBody>
      </p:sp>
      <p:pic>
        <p:nvPicPr>
          <p:cNvPr id="6" name="Picture 5">
            <a:extLst>
              <a:ext uri="{FF2B5EF4-FFF2-40B4-BE49-F238E27FC236}">
                <a16:creationId xmlns:a16="http://schemas.microsoft.com/office/drawing/2014/main" id="{8940CBE3-3F91-419A-A649-32AB388ECA8B}"/>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 y="10"/>
            <a:ext cx="6096000" cy="6857990"/>
          </a:xfrm>
          <a:prstGeom prst="rect">
            <a:avLst/>
          </a:prstGeom>
        </p:spPr>
      </p:pic>
      <p:cxnSp>
        <p:nvCxnSpPr>
          <p:cNvPr id="26" name="Straight Connector 25">
            <a:extLst>
              <a:ext uri="{FF2B5EF4-FFF2-40B4-BE49-F238E27FC236}">
                <a16:creationId xmlns:a16="http://schemas.microsoft.com/office/drawing/2014/main" id="{D28A9C89-B313-458F-9C85-515930A51A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805053" y="4294754"/>
            <a:ext cx="43891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7279305"/>
      </p:ext>
    </p:extLst>
  </p:cSld>
  <p:clrMapOvr>
    <a:masterClrMapping/>
  </p:clrMapOvr>
</p:sld>
</file>

<file path=ppt/theme/theme1.xml><?xml version="1.0" encoding="utf-8"?>
<a:theme xmlns:a="http://schemas.openxmlformats.org/drawingml/2006/main" name="RetrospectVTI">
  <a:themeElements>
    <a:clrScheme name="">
      <a:dk1>
        <a:srgbClr val="000000"/>
      </a:dk1>
      <a:lt1>
        <a:srgbClr val="FFFFFF"/>
      </a:lt1>
      <a:dk2>
        <a:srgbClr val="243541"/>
      </a:dk2>
      <a:lt2>
        <a:srgbClr val="E2E5E8"/>
      </a:lt2>
      <a:accent1>
        <a:srgbClr val="E88B33"/>
      </a:accent1>
      <a:accent2>
        <a:srgbClr val="AEA33A"/>
      </a:accent2>
      <a:accent3>
        <a:srgbClr val="8CAB4A"/>
      </a:accent3>
      <a:accent4>
        <a:srgbClr val="57B636"/>
      </a:accent4>
      <a:accent5>
        <a:srgbClr val="2EBA43"/>
      </a:accent5>
      <a:accent6>
        <a:srgbClr val="33B67D"/>
      </a:accent6>
      <a:hlink>
        <a:srgbClr val="5F84A8"/>
      </a:hlink>
      <a:folHlink>
        <a:srgbClr val="7F7F7F"/>
      </a:folHlink>
    </a:clrScheme>
    <a:fontScheme name="Retrospect">
      <a:majorFont>
        <a:latin typeface="Georgia Pro Cond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peak Pro"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Override1.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ppt/theme/themeOverride2.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ppt/theme/themeOverride3.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F3CD65D-61A5-43C9-A837-6EC73C7DA8A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31F006B4-A9E1-4F39-85C8-FB836F919348}">
  <ds:schemaRefs>
    <ds:schemaRef ds:uri="http://schemas.microsoft.com/sharepoint/v3/contenttype/forms"/>
  </ds:schemaRefs>
</ds:datastoreItem>
</file>

<file path=customXml/itemProps3.xml><?xml version="1.0" encoding="utf-8"?>
<ds:datastoreItem xmlns:ds="http://schemas.openxmlformats.org/officeDocument/2006/customXml" ds:itemID="{16377351-63A1-4C2E-8C9A-66CDD70F16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{17B9A20E-0C7F-4CF5-9BA5-545F8572EB04}tf11437505_win32</Template>
  <TotalTime>36</TotalTime>
  <Words>589</Words>
  <Application>Microsoft Office PowerPoint</Application>
  <PresentationFormat>Widescreen</PresentationFormat>
  <Paragraphs>40</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Calibri</vt:lpstr>
      <vt:lpstr>Georgia Pro Cond Light</vt:lpstr>
      <vt:lpstr>Speak Pro</vt:lpstr>
      <vt:lpstr>RetrospectVTI</vt:lpstr>
      <vt:lpstr>VACCINATION APPROACH</vt:lpstr>
      <vt:lpstr>THE BASIC APPROACH </vt:lpstr>
      <vt:lpstr>DATA CLEANING </vt:lpstr>
      <vt:lpstr>DATA CLEANING </vt:lpstr>
      <vt:lpstr>DATA CLEANING </vt:lpstr>
      <vt:lpstr>DATA CLEANING</vt:lpstr>
      <vt:lpstr>SQL </vt:lpstr>
      <vt:lpstr>EDA</vt:lpstr>
      <vt:lpstr>POWER BI</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VACCINATION APPROACH</dc:title>
  <dc:creator>P, abinash</dc:creator>
  <cp:lastModifiedBy>P, abinash</cp:lastModifiedBy>
  <cp:revision>5</cp:revision>
  <dcterms:created xsi:type="dcterms:W3CDTF">2025-05-03T05:51:06Z</dcterms:created>
  <dcterms:modified xsi:type="dcterms:W3CDTF">2025-05-03T06:27:56Z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